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129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37160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720840"/>
            <a:ext cx="12161520" cy="137160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4" name="Text 2"/>
          <p:cNvSpPr/>
          <p:nvPr/>
        </p:nvSpPr>
        <p:spPr>
          <a:xfrm>
            <a:off x="914400" y="1645920"/>
            <a:ext cx="10332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CreditMind</a:t>
            </a:r>
            <a:endParaRPr lang="en-US" sz="6000" dirty="0"/>
          </a:p>
        </p:txBody>
      </p:sp>
      <p:sp>
        <p:nvSpPr>
          <p:cNvPr id="5" name="Text 3"/>
          <p:cNvSpPr/>
          <p:nvPr/>
        </p:nvSpPr>
        <p:spPr>
          <a:xfrm>
            <a:off x="914400" y="2743200"/>
            <a:ext cx="10332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14B8A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 信贷风控大脑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914400" y="3657600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让消费贷尽调从 2 小时压缩到 15 分钟，且每个判断都有据可查。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914400" y="4572000"/>
            <a:ext cx="2743200" cy="0"/>
          </a:xfrm>
          <a:prstGeom prst="line">
            <a:avLst/>
          </a:prstGeom>
          <a:noFill/>
          <a:ln w="25400">
            <a:solidFill>
              <a:srgbClr val="14B8A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14400" y="47548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尹红艳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914400" y="51206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深圳大学南特金融科技学院 · 金融科技与风险控制硕士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914400" y="54406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2026-07-25 · 模块四路演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73152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7432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一句话定位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CreditMind · AI 信贷风控大脑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247120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2 / 13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914400" y="1280160"/>
            <a:ext cx="1033272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1280160"/>
            <a:ext cx="91440" cy="1463040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8" name="Text 6"/>
          <p:cNvSpPr/>
          <p:nvPr/>
        </p:nvSpPr>
        <p:spPr>
          <a:xfrm>
            <a:off x="1188720" y="1463040"/>
            <a:ext cx="9784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CreditMind 是面向消费贷/P2P 场景的</a:t>
            </a:r>
            <a:pPr indent="0" marL="0">
              <a:buNone/>
            </a:pPr>
            <a:r>
              <a:rPr lang="en-US" sz="18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「智能访谈 + 违约预测 + 可解释报告」</a:t>
            </a:r>
            <a:pPr indent="0" marL="0">
              <a:buNone/>
            </a:pPr>
            <a:r>
              <a:rPr lang="en-US" sz="1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一体化 Agent。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1097280" y="3108960"/>
            <a:ext cx="640080" cy="64008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31089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🎯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1920240" y="310896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目标客户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920240" y="34290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消费贷/P2P 平台的客户经理与风控初审员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1097280" y="4114800"/>
            <a:ext cx="640080" cy="64008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14" name="Text 12"/>
          <p:cNvSpPr/>
          <p:nvPr/>
        </p:nvSpPr>
        <p:spPr>
          <a:xfrm>
            <a:off x="1097280" y="41148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💡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1920240" y="411480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核心价值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1920240" y="44348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单笔尽调 1-2h → 15min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1097280" y="5120640"/>
            <a:ext cx="640080" cy="64008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18" name="Text 16"/>
          <p:cNvSpPr/>
          <p:nvPr/>
        </p:nvSpPr>
        <p:spPr>
          <a:xfrm>
            <a:off x="1097280" y="5120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🔒</a:t>
            </a:r>
            <a:endParaRPr lang="en-US" sz="2400" dirty="0"/>
          </a:p>
        </p:txBody>
      </p:sp>
      <p:sp>
        <p:nvSpPr>
          <p:cNvPr id="19" name="Text 17"/>
          <p:cNvSpPr/>
          <p:nvPr/>
        </p:nvSpPr>
        <p:spPr>
          <a:xfrm>
            <a:off x="1920240" y="51206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合规边界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1920240" y="54406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不直接放款，只做建议+人审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73152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7432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痛点：客户经理的一天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CreditMind · AI 信贷风控大脑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247120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3 / 13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188720"/>
            <a:ext cx="11064240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6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48640" y="1188720"/>
            <a:ext cx="91440" cy="1280160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8" name="Text 6"/>
          <p:cNvSpPr/>
          <p:nvPr/>
        </p:nvSpPr>
        <p:spPr>
          <a:xfrm>
            <a:off x="822960" y="1280160"/>
            <a:ext cx="10607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"每天打 20 多个访谈电话，每个 1-2 小时，光访谈就吃掉半天。真正的风控分析没时间做，只能凭经验草草判断。"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48640" y="2834640"/>
            <a:ext cx="11064240" cy="5486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" name="Text 8"/>
          <p:cNvSpPr/>
          <p:nvPr/>
        </p:nvSpPr>
        <p:spPr>
          <a:xfrm>
            <a:off x="731520" y="283464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单笔访谈 1-2 小时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5486400" y="283464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每日 20+ 次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8686800" y="283464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F4444"/>
                </a:solidFill>
              </a:rPr>
              <a:t>★★★★★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48640" y="3493008"/>
            <a:ext cx="11064240" cy="548640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4" name="Text 12"/>
          <p:cNvSpPr/>
          <p:nvPr/>
        </p:nvSpPr>
        <p:spPr>
          <a:xfrm>
            <a:off x="731520" y="3493008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模型黑盒，拒贷解释不清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5486400" y="3493008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每周 3-5 次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8686800" y="3493008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F4444"/>
                </a:solidFill>
              </a:rPr>
              <a:t>★★★★★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548640" y="4151376"/>
            <a:ext cx="11064240" cy="5486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8" name="Text 16"/>
          <p:cNvSpPr/>
          <p:nvPr/>
        </p:nvSpPr>
        <p:spPr>
          <a:xfrm>
            <a:off x="731520" y="4151376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新人/老人标准不一致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5486400" y="4151376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持续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8686800" y="4151376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59E0B"/>
                </a:solidFill>
              </a:rPr>
              <a:t>★★★★☆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548640" y="4809744"/>
            <a:ext cx="11064240" cy="548640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22" name="Text 20"/>
          <p:cNvSpPr/>
          <p:nvPr/>
        </p:nvSpPr>
        <p:spPr>
          <a:xfrm>
            <a:off x="731520" y="4809744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模型跨时间漂移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5486400" y="4809744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季度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8686800" y="4809744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59E0B"/>
                </a:solidFill>
              </a:rPr>
              <a:t>★★★★☆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548640" y="5468112"/>
            <a:ext cx="11064240" cy="5486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6" name="Text 24"/>
          <p:cNvSpPr/>
          <p:nvPr/>
        </p:nvSpPr>
        <p:spPr>
          <a:xfrm>
            <a:off x="731520" y="5468112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决策合规边界不清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5486400" y="5468112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年度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8686800" y="5468112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F4444"/>
                </a:solidFill>
              </a:rPr>
              <a:t>★★★★★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73152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7432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解决方案：三层联动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CreditMind · AI 信贷风控大脑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247120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4 / 13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1371600" y="1371600"/>
            <a:ext cx="9418320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1371600" y="1371600"/>
            <a:ext cx="914400" cy="114300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8" name="Text 6"/>
          <p:cNvSpPr/>
          <p:nvPr/>
        </p:nvSpPr>
        <p:spPr>
          <a:xfrm>
            <a:off x="1371600" y="1371600"/>
            <a:ext cx="9144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3600" dirty="0"/>
          </a:p>
        </p:txBody>
      </p:sp>
      <p:sp>
        <p:nvSpPr>
          <p:cNvPr id="9" name="Text 7"/>
          <p:cNvSpPr/>
          <p:nvPr/>
        </p:nvSpPr>
        <p:spPr>
          <a:xfrm>
            <a:off x="2468880" y="150876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多轮访谈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2468880" y="19659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自动收集 19 项核心特征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8686800" y="1645920"/>
            <a:ext cx="1828800" cy="548640"/>
          </a:xfrm>
          <a:prstGeom prst="rect">
            <a:avLst/>
          </a:prstGeom>
          <a:solidFill>
            <a:srgbClr val="F8FAFC"/>
          </a:solidFill>
          <a:ln/>
        </p:spPr>
      </p:sp>
      <p:sp>
        <p:nvSpPr>
          <p:cNvPr id="12" name="Text 10"/>
          <p:cNvSpPr/>
          <p:nvPr/>
        </p:nvSpPr>
        <p:spPr>
          <a:xfrm>
            <a:off x="8686800" y="164592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5-10 min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1371600" y="2743200"/>
            <a:ext cx="9418320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1371600" y="2743200"/>
            <a:ext cx="914400" cy="114300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15" name="Text 13"/>
          <p:cNvSpPr/>
          <p:nvPr/>
        </p:nvSpPr>
        <p:spPr>
          <a:xfrm>
            <a:off x="1371600" y="2743200"/>
            <a:ext cx="9144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3600" dirty="0"/>
          </a:p>
        </p:txBody>
      </p:sp>
      <p:sp>
        <p:nvSpPr>
          <p:cNvPr id="16" name="Text 14"/>
          <p:cNvSpPr/>
          <p:nvPr/>
        </p:nvSpPr>
        <p:spPr>
          <a:xfrm>
            <a:off x="2468880" y="288036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违约预测模型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2468880" y="33375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IV/WoE+PSI+XGBoost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8686800" y="3017520"/>
            <a:ext cx="1828800" cy="548640"/>
          </a:xfrm>
          <a:prstGeom prst="rect">
            <a:avLst/>
          </a:prstGeom>
          <a:solidFill>
            <a:srgbClr val="F8FAFC"/>
          </a:solidFill>
          <a:ln/>
        </p:spPr>
      </p:sp>
      <p:sp>
        <p:nvSpPr>
          <p:cNvPr id="19" name="Text 17"/>
          <p:cNvSpPr/>
          <p:nvPr/>
        </p:nvSpPr>
        <p:spPr>
          <a:xfrm>
            <a:off x="8686800" y="301752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秒级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1371600" y="4114800"/>
            <a:ext cx="9418320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1371600" y="4114800"/>
            <a:ext cx="914400" cy="1143000"/>
          </a:xfrm>
          <a:prstGeom prst="rect">
            <a:avLst/>
          </a:prstGeom>
          <a:solidFill>
            <a:srgbClr val="21295C"/>
          </a:solidFill>
          <a:ln/>
        </p:spPr>
      </p:sp>
      <p:sp>
        <p:nvSpPr>
          <p:cNvPr id="22" name="Text 20"/>
          <p:cNvSpPr/>
          <p:nvPr/>
        </p:nvSpPr>
        <p:spPr>
          <a:xfrm>
            <a:off x="1371600" y="4114800"/>
            <a:ext cx="9144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3600" dirty="0"/>
          </a:p>
        </p:txBody>
      </p:sp>
      <p:sp>
        <p:nvSpPr>
          <p:cNvPr id="23" name="Text 21"/>
          <p:cNvSpPr/>
          <p:nvPr/>
        </p:nvSpPr>
        <p:spPr>
          <a:xfrm>
            <a:off x="2468880" y="425196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尽调报告生成</a:t>
            </a:r>
            <a:endParaRPr lang="en-US" sz="2000" dirty="0"/>
          </a:p>
        </p:txBody>
      </p:sp>
      <p:sp>
        <p:nvSpPr>
          <p:cNvPr id="24" name="Text 22"/>
          <p:cNvSpPr/>
          <p:nvPr/>
        </p:nvSpPr>
        <p:spPr>
          <a:xfrm>
            <a:off x="2468880" y="47091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Markdown + SHAP Top3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8686800" y="4389120"/>
            <a:ext cx="1828800" cy="548640"/>
          </a:xfrm>
          <a:prstGeom prst="rect">
            <a:avLst/>
          </a:prstGeom>
          <a:solidFill>
            <a:srgbClr val="F8FAFC"/>
          </a:solidFill>
          <a:ln/>
        </p:spPr>
      </p:sp>
      <p:sp>
        <p:nvSpPr>
          <p:cNvPr id="26" name="Text 24"/>
          <p:cNvSpPr/>
          <p:nvPr/>
        </p:nvSpPr>
        <p:spPr>
          <a:xfrm>
            <a:off x="8686800" y="438912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min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1371600" y="5669280"/>
            <a:ext cx="9418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人审仍是必要的 — Agent 只做信息采集和初稿，客户经理做最终复核。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73152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7432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 个 AI 介入点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CreditMind · AI 信贷风控大脑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247120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5 / 13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371600"/>
            <a:ext cx="356616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731520" y="1554480"/>
            <a:ext cx="640080" cy="64008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8" name="Text 6"/>
          <p:cNvSpPr/>
          <p:nvPr/>
        </p:nvSpPr>
        <p:spPr>
          <a:xfrm>
            <a:off x="731520" y="15544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1463040" y="160020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多轮访谈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463040" y="201168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AI: LLM 对话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731520" y="246888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替代: 客户经理 1-2h 访谈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389120" y="1371600"/>
            <a:ext cx="356616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572000" y="1554480"/>
            <a:ext cx="640080" cy="64008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0" y="15544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5303520" y="160020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特征抽取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5303520" y="201168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AI: NER + function calling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572000" y="246888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替代: 手工整理 Excel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8229600" y="1371600"/>
            <a:ext cx="356616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8412480" y="1554480"/>
            <a:ext cx="640080" cy="640080"/>
          </a:xfrm>
          <a:prstGeom prst="ellipse">
            <a:avLst/>
          </a:prstGeom>
          <a:solidFill>
            <a:srgbClr val="21295C"/>
          </a:solidFill>
          <a:ln/>
        </p:spPr>
      </p:sp>
      <p:sp>
        <p:nvSpPr>
          <p:cNvPr id="20" name="Text 18"/>
          <p:cNvSpPr/>
          <p:nvPr/>
        </p:nvSpPr>
        <p:spPr>
          <a:xfrm>
            <a:off x="8412480" y="15544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2400" dirty="0"/>
          </a:p>
        </p:txBody>
      </p:sp>
      <p:sp>
        <p:nvSpPr>
          <p:cNvPr id="21" name="Text 19"/>
          <p:cNvSpPr/>
          <p:nvPr/>
        </p:nvSpPr>
        <p:spPr>
          <a:xfrm>
            <a:off x="9144000" y="160020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违约预测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9144000" y="201168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AI: XGBoost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8412480" y="246888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替代: 经验判断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48640" y="3474720"/>
            <a:ext cx="356616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731520" y="3657600"/>
            <a:ext cx="640080" cy="64008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26" name="Text 24"/>
          <p:cNvSpPr/>
          <p:nvPr/>
        </p:nvSpPr>
        <p:spPr>
          <a:xfrm>
            <a:off x="731520" y="36576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2400" dirty="0"/>
          </a:p>
        </p:txBody>
      </p:sp>
      <p:sp>
        <p:nvSpPr>
          <p:cNvPr id="27" name="Text 25"/>
          <p:cNvSpPr/>
          <p:nvPr/>
        </p:nvSpPr>
        <p:spPr>
          <a:xfrm>
            <a:off x="1463040" y="370332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 解释</a:t>
            </a:r>
            <a:endParaRPr lang="en-US" sz="1700" dirty="0"/>
          </a:p>
        </p:txBody>
      </p:sp>
      <p:sp>
        <p:nvSpPr>
          <p:cNvPr id="28" name="Text 26"/>
          <p:cNvSpPr/>
          <p:nvPr/>
        </p:nvSpPr>
        <p:spPr>
          <a:xfrm>
            <a:off x="1463040" y="411480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AI: TreeExplainer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731520" y="457200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替代: 数据科学家临时解释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4389120" y="3474720"/>
            <a:ext cx="356616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4572000" y="3657600"/>
            <a:ext cx="640080" cy="64008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32" name="Text 30"/>
          <p:cNvSpPr/>
          <p:nvPr/>
        </p:nvSpPr>
        <p:spPr>
          <a:xfrm>
            <a:off x="4572000" y="36576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2400" dirty="0"/>
          </a:p>
        </p:txBody>
      </p:sp>
      <p:sp>
        <p:nvSpPr>
          <p:cNvPr id="33" name="Text 31"/>
          <p:cNvSpPr/>
          <p:nvPr/>
        </p:nvSpPr>
        <p:spPr>
          <a:xfrm>
            <a:off x="5303520" y="370332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报告生成</a:t>
            </a:r>
            <a:endParaRPr lang="en-US" sz="1700" dirty="0"/>
          </a:p>
        </p:txBody>
      </p:sp>
      <p:sp>
        <p:nvSpPr>
          <p:cNvPr id="34" name="Text 32"/>
          <p:cNvSpPr/>
          <p:nvPr/>
        </p:nvSpPr>
        <p:spPr>
          <a:xfrm>
            <a:off x="5303520" y="411480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AI: LLM 模板填充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4572000" y="457200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替代: 30min 手写报告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548640" y="5669280"/>
            <a:ext cx="11064240" cy="502920"/>
          </a:xfrm>
          <a:prstGeom prst="rect">
            <a:avLst/>
          </a:prstGeom>
          <a:solidFill>
            <a:srgbClr val="21295C"/>
          </a:solidFill>
          <a:ln/>
        </p:spPr>
      </p:sp>
      <p:sp>
        <p:nvSpPr>
          <p:cNvPr id="37" name="Text 35"/>
          <p:cNvSpPr/>
          <p:nvPr/>
        </p:nvSpPr>
        <p:spPr>
          <a:xfrm>
            <a:off x="548640" y="566928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🔒 合规红线：AI 不直接放款，不使用 grade/sub_grade 泄露特征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73152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7432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竞品对比实验 ⭐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CreditMind · AI 信贷风控大脑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247120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6 / 13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48640" y="9144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在 LendingClub 15 万条数据上对比三种方法论</a:t>
            </a:r>
            <a:endParaRPr lang="en-US" sz="14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64240" cy="2560320"/>
        </p:xfrm>
        <a:graphic>
          <a:graphicData uri="http://schemas.openxmlformats.org/drawingml/2006/table">
            <a:tbl>
              <a:tblPr/>
              <a:tblGrid>
                <a:gridCol w="3931920"/>
                <a:gridCol w="1554480"/>
                <a:gridCol w="1371600"/>
                <a:gridCol w="1828800"/>
                <a:gridCol w="2377440"/>
              </a:tblGrid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模型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9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AUC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9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特征数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9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数据泄露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9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PSI 稳定性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95C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A: Leaky Baseline</a:t>
                      </a:r>
                      <a:endParaRPr lang="en-US" sz="1100" dirty="0"/>
                    </a:p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(navyaneel/credit-risk-model)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0.6995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17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EF4444"/>
                          </a:solidFill>
                        </a:rPr>
                        <a:t>❌ 是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64748B"/>
                          </a:solidFill>
                        </a:rPr>
                        <a:t>未验证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B: Feature-Heavy</a:t>
                      </a:r>
                      <a:endParaRPr lang="en-US" sz="1100" dirty="0"/>
                    </a:p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(shashi-hue/loan-default-risk-system)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0.7167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81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EF4444"/>
                          </a:solidFill>
                        </a:rPr>
                        <a:t>❌ 包含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64748B"/>
                          </a:solidFill>
                        </a:rPr>
                        <a:t>未验证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065A82"/>
                          </a:solidFill>
                        </a:rPr>
                        <a:t>C: CreditMind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065A82"/>
                          </a:solidFill>
                        </a:rPr>
                        <a:t>(本项目)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065A82"/>
                          </a:solidFill>
                        </a:rPr>
                        <a:t>0.7093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065A82"/>
                          </a:solidFill>
                        </a:rPr>
                        <a:t>19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0B981"/>
                          </a:solidFill>
                        </a:rPr>
                        <a:t>✅ 否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0B981"/>
                          </a:solidFill>
                        </a:rPr>
                        <a:t>✅ 已验证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BEAFE"/>
                    </a:solidFill>
                  </a:tcPr>
                </a:tc>
              </a:tr>
            </a:tbl>
          </a:graphicData>
        </a:graphic>
      </p:graphicFrame>
      <p:pic>
        <p:nvPicPr>
          <p:cNvPr id="8" name="Image 0" descr="/Users/yolanda/NanTe2025/金融AIagent暑假集训/模块四/CreditMind/experiments/results/comparison_overview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371600" y="4206240"/>
            <a:ext cx="9418320" cy="201168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73152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7432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三大护城河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CreditMind · AI 信贷风控大脑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247120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7 / 13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914400" y="1371600"/>
            <a:ext cx="1033272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1188720" y="1645920"/>
            <a:ext cx="685800" cy="68580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8" name="Text 6"/>
          <p:cNvSpPr/>
          <p:nvPr/>
        </p:nvSpPr>
        <p:spPr>
          <a:xfrm>
            <a:off x="1188720" y="164592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2103120" y="1554480"/>
            <a:ext cx="8686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方法论深度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2103120" y="2011680"/>
            <a:ext cx="8686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唯一把「IV/WoE → PSI → 贪心去共线性 → 四套方案」完整工程化的项目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914400" y="2834640"/>
            <a:ext cx="1033272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1188720" y="3108960"/>
            <a:ext cx="685800" cy="68580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3" name="Text 11"/>
          <p:cNvSpPr/>
          <p:nvPr/>
        </p:nvSpPr>
        <p:spPr>
          <a:xfrm>
            <a:off x="1188720" y="310896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2800" dirty="0"/>
          </a:p>
        </p:txBody>
      </p:sp>
      <p:sp>
        <p:nvSpPr>
          <p:cNvPr id="14" name="Text 12"/>
          <p:cNvSpPr/>
          <p:nvPr/>
        </p:nvSpPr>
        <p:spPr>
          <a:xfrm>
            <a:off x="2103120" y="3017520"/>
            <a:ext cx="8686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数据泄露防护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2103120" y="3474720"/>
            <a:ext cx="8686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明确识别并排除 grade/sub_grade 目标泄露（navyaneel 直接用了泄露特征，AUC 虚高）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914400" y="4297680"/>
            <a:ext cx="1033272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1188720" y="4572000"/>
            <a:ext cx="685800" cy="685800"/>
          </a:xfrm>
          <a:prstGeom prst="ellipse">
            <a:avLst/>
          </a:prstGeom>
          <a:solidFill>
            <a:srgbClr val="21295C"/>
          </a:solidFill>
          <a:ln/>
        </p:spPr>
      </p:sp>
      <p:sp>
        <p:nvSpPr>
          <p:cNvPr id="18" name="Text 16"/>
          <p:cNvSpPr/>
          <p:nvPr/>
        </p:nvSpPr>
        <p:spPr>
          <a:xfrm>
            <a:off x="1188720" y="457200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2103120" y="4480560"/>
            <a:ext cx="8686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产品化层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2103120" y="4937760"/>
            <a:ext cx="8686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把静态 Notebook 升级为「对话采集 → 模型推理 → 报告生成」Agent 闭环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73152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7432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可解释性：SHAP Top3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CreditMind · AI 信贷风控大脑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247120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8 / 13</a:t>
            </a:r>
            <a:endParaRPr lang="en-US" sz="900" dirty="0"/>
          </a:p>
        </p:txBody>
      </p:sp>
      <p:pic>
        <p:nvPicPr>
          <p:cNvPr id="6" name="Image 0" descr="/Users/yolanda/NanTe2025/金融AIagent暑假集训/模块四/CreditMind/experiments/results/shap_top15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188720"/>
            <a:ext cx="6858000" cy="475488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7772400" y="1188720"/>
            <a:ext cx="3840480" cy="4754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7955280" y="137160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示例解读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7955280" y="1828800"/>
            <a:ext cx="347472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"这位借款人违约概率 72%
</a:t>
            </a:r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主要风险因子：
</a:t>
            </a:r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int_rate（利率）13.5%
   — 高于平均，平台已识别较高风险
</a:t>
            </a:r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dti（负债收入比）35%
   — 偏高，偿债压力大
</a:t>
            </a:r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inq_last_6mths 5 次
   — 频繁申贷，资金紧张信号
</a:t>
            </a:r>
            <a:pPr indent="0" marL="0">
              <a:buNone/>
            </a:pPr>
            <a:r>
              <a:rPr lang="en-US" sz="1200" i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建议话术：'根据您的信用状况，建议降低申请金额或提供担保'"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2129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37160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6576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现场 Demo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00584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 岁深圳电商老板借 20 万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914400" y="1828800"/>
            <a:ext cx="640080" cy="640080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18288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1828800" y="18288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启动 Agent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828800" y="21488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输入客户基本信息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2834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1828800" y="28346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多轮访谈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828800" y="31546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自动提问 19 项特征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914400" y="3840480"/>
            <a:ext cx="640080" cy="640080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14" name="Text 12"/>
          <p:cNvSpPr/>
          <p:nvPr/>
        </p:nvSpPr>
        <p:spPr>
          <a:xfrm>
            <a:off x="914400" y="38404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1828800" y="38404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模型推理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828800" y="41605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实时输出违约概率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914400" y="4846320"/>
            <a:ext cx="640080" cy="640080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18" name="Text 16"/>
          <p:cNvSpPr/>
          <p:nvPr/>
        </p:nvSpPr>
        <p:spPr>
          <a:xfrm>
            <a:off x="914400" y="48463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2400" dirty="0"/>
          </a:p>
        </p:txBody>
      </p:sp>
      <p:sp>
        <p:nvSpPr>
          <p:cNvPr id="19" name="Text 17"/>
          <p:cNvSpPr/>
          <p:nvPr/>
        </p:nvSpPr>
        <p:spPr>
          <a:xfrm>
            <a:off x="1828800" y="48463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报告生成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1828800" y="516636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Markdown 尽调报告 + SHAP Top3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548640" y="59436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预期时长：5-10 分钟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73152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7432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团队与学术背书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CreditMind · AI 信贷风控大脑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247120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10 / 13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914400" y="1371600"/>
            <a:ext cx="2011680" cy="201168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1371600"/>
            <a:ext cx="20116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尹</a:t>
            </a:r>
            <a:endParaRPr lang="en-US" sz="2800" dirty="0"/>
          </a:p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红</a:t>
            </a:r>
            <a:endParaRPr lang="en-US" sz="2800" dirty="0"/>
          </a:p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艳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3200400" y="137160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尹红艳（Yolanda）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3200400" y="182880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深圳大学南特金融科技学院 · 金融科技与风险控制硕士（2025.09 入学）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3200400" y="237744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🎓 深圳大学南特金融科技学院 · 金融科技与风险控制硕士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200400" y="278892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📜 CFA 持证 · CQF 考生 · PMP 认证 · 腾讯云 AI 认证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3200400" y="320040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💼 5 年家族办公室渠道经理 + 5 年万科/招商地产 ERP 业务分析师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200400" y="361188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🔬 硕士课题：信贷违约预测模型（本项目核心引擎）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914400" y="4572000"/>
            <a:ext cx="1033272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914400" y="4572000"/>
            <a:ext cx="91440" cy="1371600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16" name="Text 14"/>
          <p:cNvSpPr/>
          <p:nvPr/>
        </p:nvSpPr>
        <p:spPr>
          <a:xfrm>
            <a:off x="1188720" y="4663440"/>
            <a:ext cx="9784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学术 IP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188720" y="5029200"/>
            <a:ext cx="9784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硕士课题方向：信贷违约预测模型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已完成：LendingClub 2018-2019 数据完整建模流程（V1.ipynb + V2.md）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本次路演核心：把课题成果产品化为 CreditMind Agent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73152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7432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Roadmap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CreditMind · AI 信贷风控大脑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247120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11 / 13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371600"/>
            <a:ext cx="3566160" cy="4114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48640" y="1371600"/>
            <a:ext cx="3566160" cy="54864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8" name="Text 6"/>
          <p:cNvSpPr/>
          <p:nvPr/>
        </p:nvSpPr>
        <p:spPr>
          <a:xfrm>
            <a:off x="731520" y="137160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1: MVP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31520" y="201168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天（模块四+五）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731520" y="246888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单轮输入 + Agent 访谈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731520" y="288036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模型推理 + 报告生成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731520" y="329184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Streamlit Web Demo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731520" y="370332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3 个预设 Case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731520" y="4937760"/>
            <a:ext cx="3200400" cy="365760"/>
          </a:xfrm>
          <a:prstGeom prst="rect">
            <a:avLst/>
          </a:prstGeom>
          <a:solidFill>
            <a:srgbClr val="F8FAFC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" y="493776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已完成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389120" y="1371600"/>
            <a:ext cx="3566160" cy="4114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389120" y="1371600"/>
            <a:ext cx="3566160" cy="54864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18" name="Text 16"/>
          <p:cNvSpPr/>
          <p:nvPr/>
        </p:nvSpPr>
        <p:spPr>
          <a:xfrm>
            <a:off x="4572000" y="137160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2: 产品化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4572000" y="201168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1-2 个月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572000" y="246888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FastAPI + Docker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572000" y="288036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OCR 多模态采集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572000" y="329184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模型校准（Isotonic）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4572000" y="370332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Word/PDF 导出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4572000" y="4937760"/>
            <a:ext cx="3200400" cy="365760"/>
          </a:xfrm>
          <a:prstGeom prst="rect">
            <a:avLst/>
          </a:prstGeom>
          <a:solidFill>
            <a:srgbClr val="F8FAFC"/>
          </a:solidFill>
          <a:ln/>
        </p:spPr>
      </p:sp>
      <p:sp>
        <p:nvSpPr>
          <p:cNvPr id="25" name="Text 23"/>
          <p:cNvSpPr/>
          <p:nvPr/>
        </p:nvSpPr>
        <p:spPr>
          <a:xfrm>
            <a:off x="4572000" y="493776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⏳ 计划中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8229600" y="1371600"/>
            <a:ext cx="3566160" cy="4114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8229600" y="1371600"/>
            <a:ext cx="3566160" cy="548640"/>
          </a:xfrm>
          <a:prstGeom prst="rect">
            <a:avLst/>
          </a:prstGeom>
          <a:solidFill>
            <a:srgbClr val="21295C"/>
          </a:solidFill>
          <a:ln/>
        </p:spPr>
      </p:sp>
      <p:sp>
        <p:nvSpPr>
          <p:cNvPr id="28" name="Text 26"/>
          <p:cNvSpPr/>
          <p:nvPr/>
        </p:nvSpPr>
        <p:spPr>
          <a:xfrm>
            <a:off x="8412480" y="137160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3: 企业级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8412480" y="201168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3-6 个月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8412480" y="246888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多用户并发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8412480" y="288036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企业级 SaaS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8412480" y="329184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实时交易系统对接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8412480" y="370332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多产品线支持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8412480" y="4937760"/>
            <a:ext cx="3200400" cy="365760"/>
          </a:xfrm>
          <a:prstGeom prst="rect">
            <a:avLst/>
          </a:prstGeom>
          <a:solidFill>
            <a:srgbClr val="F8FAFC"/>
          </a:solidFill>
          <a:ln/>
        </p:spPr>
      </p:sp>
      <p:sp>
        <p:nvSpPr>
          <p:cNvPr id="35" name="Text 33"/>
          <p:cNvSpPr/>
          <p:nvPr/>
        </p:nvSpPr>
        <p:spPr>
          <a:xfrm>
            <a:off x="8412480" y="493776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📋 远期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548640" y="57607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 会进一步丰富信贷特征工程与多模态采集，覆盖更多消费贷细分场景。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73152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7432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诚实短板与 Ask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CreditMind · AI 信贷风控大脑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247120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12 / 13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48640" y="10972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已知短板（主动说明）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548640" y="1554480"/>
            <a:ext cx="530352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155448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数据规模 15 万行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3474720" y="155448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接 2007-2019 全量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48640" y="2194560"/>
            <a:ext cx="530352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219456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特征衍生深度不足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3474720" y="219456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加衍生特征工程层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48640" y="2834640"/>
            <a:ext cx="530352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1520" y="283464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无模型校准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3474720" y="283464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Isotonic / Platt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48640" y="3474720"/>
            <a:ext cx="530352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31520" y="347472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仅文本对话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3474720" y="347472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加 OCR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400800" y="109728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6400800" y="1554480"/>
            <a:ext cx="5212080" cy="777240"/>
          </a:xfrm>
          <a:prstGeom prst="rect">
            <a:avLst/>
          </a:prstGeom>
          <a:solidFill>
            <a:srgbClr val="21295C"/>
          </a:solidFill>
          <a:ln/>
        </p:spPr>
      </p:sp>
      <p:sp>
        <p:nvSpPr>
          <p:cNvPr id="21" name="Text 19"/>
          <p:cNvSpPr/>
          <p:nvPr/>
        </p:nvSpPr>
        <p:spPr>
          <a:xfrm>
            <a:off x="6583680" y="1554480"/>
            <a:ext cx="4846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Agent × 风控 的产品化路径，特别是合规边界设计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6400800" y="2468880"/>
            <a:ext cx="5212080" cy="777240"/>
          </a:xfrm>
          <a:prstGeom prst="rect">
            <a:avLst/>
          </a:prstGeom>
          <a:solidFill>
            <a:srgbClr val="21295C"/>
          </a:solidFill>
          <a:ln/>
        </p:spPr>
      </p:sp>
      <p:sp>
        <p:nvSpPr>
          <p:cNvPr id="23" name="Text 21"/>
          <p:cNvSpPr/>
          <p:nvPr/>
        </p:nvSpPr>
        <p:spPr>
          <a:xfrm>
            <a:off x="6583680" y="2468880"/>
            <a:ext cx="4846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IV/WoE+PSI 方法论在生产环境的工程化最佳实践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6400800" y="3383280"/>
            <a:ext cx="5212080" cy="777240"/>
          </a:xfrm>
          <a:prstGeom prst="rect">
            <a:avLst/>
          </a:prstGeom>
          <a:solidFill>
            <a:srgbClr val="21295C"/>
          </a:solidFill>
          <a:ln/>
        </p:spPr>
      </p:sp>
      <p:sp>
        <p:nvSpPr>
          <p:cNvPr id="25" name="Text 23"/>
          <p:cNvSpPr/>
          <p:nvPr/>
        </p:nvSpPr>
        <p:spPr>
          <a:xfrm>
            <a:off x="6583680" y="3383280"/>
            <a:ext cx="4846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多模态采集（OCR/语音）的落地经验</a:t>
            </a:r>
            <a:endParaRPr 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2129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37160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720840"/>
            <a:ext cx="12161520" cy="137160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4" name="Text 2"/>
          <p:cNvSpPr/>
          <p:nvPr/>
        </p:nvSpPr>
        <p:spPr>
          <a:xfrm>
            <a:off x="914400" y="1828800"/>
            <a:ext cx="10332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感谢各位导师点评！</a:t>
            </a:r>
            <a:endParaRPr lang="en-US" sz="4400" dirty="0"/>
          </a:p>
        </p:txBody>
      </p:sp>
      <p:sp>
        <p:nvSpPr>
          <p:cNvPr id="5" name="Shape 3"/>
          <p:cNvSpPr/>
          <p:nvPr/>
        </p:nvSpPr>
        <p:spPr>
          <a:xfrm>
            <a:off x="4572000" y="3017520"/>
            <a:ext cx="3017520" cy="0"/>
          </a:xfrm>
          <a:prstGeom prst="line">
            <a:avLst/>
          </a:prstGeom>
          <a:noFill/>
          <a:ln w="25400">
            <a:solidFill>
              <a:srgbClr val="14B8A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3291840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14B8A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CreditMind · AI 信贷风控大脑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914400" y="3840480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让消费贷尽调从 2 小时压缩到 15 分钟，且每个判断都有据可查。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914400" y="502920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尹红艳 · 2026-07-25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CreditMind · AI 信贷风控大脑</dc:title>
  <dc:subject>PptxGenJS Presentation</dc:subject>
  <dc:creator>尹红艳</dc:creator>
  <cp:lastModifiedBy>尹红艳</cp:lastModifiedBy>
  <cp:revision>1</cp:revision>
  <dcterms:created xsi:type="dcterms:W3CDTF">2026-07-25T08:14:47Z</dcterms:created>
  <dcterms:modified xsi:type="dcterms:W3CDTF">2026-07-25T08:14:47Z</dcterms:modified>
</cp:coreProperties>
</file>