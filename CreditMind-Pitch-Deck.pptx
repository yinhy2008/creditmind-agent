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3716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720840"/>
            <a:ext cx="12161520" cy="13716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64592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CreditMind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914400" y="274320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信贷风控大脑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914400" y="365760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让消费贷尽调从 2 小时压缩到 15 分钟，且每个判断都有据可查。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14400" y="4572000"/>
            <a:ext cx="2743200" cy="0"/>
          </a:xfrm>
          <a:prstGeom prst="line">
            <a:avLst/>
          </a:prstGeom>
          <a:noFill/>
          <a:ln w="25400">
            <a:solidFill>
              <a:srgbClr val="14B8A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47548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尹红艳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14400" y="5120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深圳大学南特金融科技学院 · 金融科技与风险控制硕士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14400" y="54406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2026-07-25 · 模块四路演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一句话定位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CreditMind · AI 信贷风控大脑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2 / 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914400" y="1280160"/>
            <a:ext cx="1033272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1280160"/>
            <a:ext cx="91440" cy="146304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8" name="Text 6"/>
          <p:cNvSpPr/>
          <p:nvPr/>
        </p:nvSpPr>
        <p:spPr>
          <a:xfrm>
            <a:off x="1188720" y="146304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CreditMind 是面向消费贷/P2P 场景的</a:t>
            </a:r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「智能访谈 + 违约预测 + 可解释报告」</a:t>
            </a:r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一体化 Agent。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097280" y="310896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108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🎯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920240" y="31089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目标客户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920240" y="34290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消费贷/P2P 平台的客户经理与风控初审员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1097280" y="411480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4114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💡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920240" y="4114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核心价值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920240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单笔尽调 1-2h → 15min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097280" y="512064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8" name="Text 16"/>
          <p:cNvSpPr/>
          <p:nvPr/>
        </p:nvSpPr>
        <p:spPr>
          <a:xfrm>
            <a:off x="1097280" y="5120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🔒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1920240" y="51206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合规边界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920240" y="5440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不直接放款，只做建议+人审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痛点：客户经理的一天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CreditMind · AI 信贷风控大脑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3 / 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188720"/>
            <a:ext cx="1106424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188720"/>
            <a:ext cx="91440" cy="128016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28016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"每天打 20 多个访谈电话，每个 1-2 小时，光访谈就吃掉半天。真正的风控分析没时间做，只能凭经验草草判断。"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834640"/>
            <a:ext cx="1106424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8346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单笔访谈 1-2 小时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0" y="28346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每日 20+ 次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686800" y="28346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F4444"/>
                </a:solidFill>
              </a:rPr>
              <a:t>★★★★★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3493008"/>
            <a:ext cx="11064240" cy="54864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3493008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模型黑盒，拒贷解释不清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0" y="349300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每周 3-5 次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686800" y="349300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F4444"/>
                </a:solidFill>
              </a:rPr>
              <a:t>★★★★★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4151376"/>
            <a:ext cx="1106424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4151376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新人/老人标准不一致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86400" y="4151376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持续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686800" y="4151376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9E0B"/>
                </a:solidFill>
              </a:rPr>
              <a:t>★★★★☆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48640" y="4809744"/>
            <a:ext cx="11064240" cy="54864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4809744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模型跨时间漂移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486400" y="4809744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季度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686800" y="4809744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9E0B"/>
                </a:solidFill>
              </a:rPr>
              <a:t>★★★★☆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48640" y="5468112"/>
            <a:ext cx="1106424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731520" y="546811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决策合规边界不清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486400" y="546811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年度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686800" y="546811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F4444"/>
                </a:solidFill>
              </a:rPr>
              <a:t>★★★★★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解决方案：三层联动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CreditMind · AI 信贷风控大脑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4 / 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371600" y="1371600"/>
            <a:ext cx="941832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371600" y="1371600"/>
            <a:ext cx="914400" cy="11430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8" name="Text 6"/>
          <p:cNvSpPr/>
          <p:nvPr/>
        </p:nvSpPr>
        <p:spPr>
          <a:xfrm>
            <a:off x="1371600" y="1371600"/>
            <a:ext cx="914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2468880" y="15087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多轮访谈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2468880" y="19659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自动收集 19 项核心特征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686800" y="1645920"/>
            <a:ext cx="1828800" cy="54864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0" y="16459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5-10 min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1371600" y="2743200"/>
            <a:ext cx="941832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1371600" y="2743200"/>
            <a:ext cx="914400" cy="11430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1371600" y="2743200"/>
            <a:ext cx="914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2468880" y="28803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违约预测模型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2468880" y="33375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IV/WoE+PSI+XGBoost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8686800" y="3017520"/>
            <a:ext cx="1828800" cy="54864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0" y="30175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秒级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1371600" y="4114800"/>
            <a:ext cx="941832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1371600" y="4114800"/>
            <a:ext cx="914400" cy="1143000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22" name="Text 20"/>
          <p:cNvSpPr/>
          <p:nvPr/>
        </p:nvSpPr>
        <p:spPr>
          <a:xfrm>
            <a:off x="1371600" y="4114800"/>
            <a:ext cx="914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600" dirty="0"/>
          </a:p>
        </p:txBody>
      </p:sp>
      <p:sp>
        <p:nvSpPr>
          <p:cNvPr id="23" name="Text 21"/>
          <p:cNvSpPr/>
          <p:nvPr/>
        </p:nvSpPr>
        <p:spPr>
          <a:xfrm>
            <a:off x="2468880" y="42519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尽调报告生成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2468880" y="4709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Markdown + SHAP Top3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8686800" y="4389120"/>
            <a:ext cx="1828800" cy="54864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26" name="Text 24"/>
          <p:cNvSpPr/>
          <p:nvPr/>
        </p:nvSpPr>
        <p:spPr>
          <a:xfrm>
            <a:off x="8686800" y="43891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371600" y="5669280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人审仍是必要的 — Agent 只做信息采集和初稿，客户经理做最终复核。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个 AI 介入点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CreditMind · AI 信贷风控大脑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5 / 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55448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554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463040" y="16002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多轮访谈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463040" y="201168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AI: LLM 对话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24688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替代: 客户经理 1-2h 访谈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38912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0" y="155448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0" y="1554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5303520" y="16002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特征抽取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5303520" y="201168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AI: NER + function calling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0" y="24688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替代: 手工整理 Excel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22960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412480" y="1554480"/>
            <a:ext cx="640080" cy="640080"/>
          </a:xfrm>
          <a:prstGeom prst="ellipse">
            <a:avLst/>
          </a:prstGeom>
          <a:solidFill>
            <a:srgbClr val="21295C"/>
          </a:solidFill>
          <a:ln/>
        </p:spPr>
      </p:sp>
      <p:sp>
        <p:nvSpPr>
          <p:cNvPr id="20" name="Text 18"/>
          <p:cNvSpPr/>
          <p:nvPr/>
        </p:nvSpPr>
        <p:spPr>
          <a:xfrm>
            <a:off x="8412480" y="1554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9144000" y="16002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违约预测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9144000" y="201168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AI: XGBoost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412480" y="24688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替代: 经验判断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347472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31520" y="365760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6" name="Text 24"/>
          <p:cNvSpPr/>
          <p:nvPr/>
        </p:nvSpPr>
        <p:spPr>
          <a:xfrm>
            <a:off x="731520" y="3657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1463040" y="37033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解释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1463040" y="411480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AI: TreeExplainer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31520" y="45720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替代: 数据科学家临时解释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389120" y="347472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572000" y="365760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2" name="Text 30"/>
          <p:cNvSpPr/>
          <p:nvPr/>
        </p:nvSpPr>
        <p:spPr>
          <a:xfrm>
            <a:off x="4572000" y="3657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400" dirty="0"/>
          </a:p>
        </p:txBody>
      </p:sp>
      <p:sp>
        <p:nvSpPr>
          <p:cNvPr id="33" name="Text 31"/>
          <p:cNvSpPr/>
          <p:nvPr/>
        </p:nvSpPr>
        <p:spPr>
          <a:xfrm>
            <a:off x="5303520" y="37033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报告生成</a:t>
            </a:r>
            <a:endParaRPr lang="en-US" sz="1700" dirty="0"/>
          </a:p>
        </p:txBody>
      </p:sp>
      <p:sp>
        <p:nvSpPr>
          <p:cNvPr id="34" name="Text 32"/>
          <p:cNvSpPr/>
          <p:nvPr/>
        </p:nvSpPr>
        <p:spPr>
          <a:xfrm>
            <a:off x="5303520" y="411480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AI: LLM 模板填充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4572000" y="45720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替代: 30min 手写报告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548640" y="5669280"/>
            <a:ext cx="11064240" cy="502920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37" name="Text 35"/>
          <p:cNvSpPr/>
          <p:nvPr/>
        </p:nvSpPr>
        <p:spPr>
          <a:xfrm>
            <a:off x="548640" y="566928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合规红线：AI 不直接放款，不使用 grade/sub_grade 泄露特征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竞品对比实验 ⭐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CreditMind · AI 信贷风控大脑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6 / 13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 LendingClub 15 万条数据上对比三种方法论 · A/B/C AUC、特征数、泄露风险、PSI 稳定性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2560320"/>
        </p:xfrm>
        <a:graphic>
          <a:graphicData uri="http://schemas.openxmlformats.org/drawingml/2006/table">
            <a:tbl>
              <a:tblPr/>
              <a:tblGrid>
                <a:gridCol w="3931920"/>
                <a:gridCol w="1554480"/>
                <a:gridCol w="1371600"/>
                <a:gridCol w="1828800"/>
                <a:gridCol w="237744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模型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AUC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特征数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数据泄露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PSI 稳定性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A: Leaky Baseline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(navyaneel/credit-risk-model)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0.6995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F4444"/>
                          </a:solidFill>
                        </a:rPr>
                        <a:t>❌ 是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4748B"/>
                          </a:solidFill>
                        </a:rPr>
                        <a:t>未验证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B: Feature-Heavy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(shashi-hue/loan-default-risk-system)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0.7167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81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F4444"/>
                          </a:solidFill>
                        </a:rPr>
                        <a:t>❌ 包含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4748B"/>
                          </a:solidFill>
                        </a:rPr>
                        <a:t>未验证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65A82"/>
                          </a:solidFill>
                        </a:rPr>
                        <a:t>C: CreditMind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65A82"/>
                          </a:solidFill>
                        </a:rPr>
                        <a:t>(本项目)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65A82"/>
                          </a:solidFill>
                        </a:rPr>
                        <a:t>0.7093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65A82"/>
                          </a:solidFill>
                        </a:rPr>
                        <a:t>19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0B981"/>
                          </a:solidFill>
                        </a:rPr>
                        <a:t>✅ 否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0B981"/>
                          </a:solidFill>
                        </a:rPr>
                        <a:t>✅ 已验证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</a:tr>
            </a:tbl>
          </a:graphicData>
        </a:graphic>
      </p:graphicFrame>
      <p:pic>
        <p:nvPicPr>
          <p:cNvPr id="8" name="Image 0" descr="/Users/yolanda/NanTe2025/金融AIagent暑假集训/模块四/CreditMind/experiments/results/comparison_overview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371600" y="4297680"/>
            <a:ext cx="9418320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三大护城河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CreditMind · AI 信贷风控大脑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7 / 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914400" y="1371600"/>
            <a:ext cx="1033272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188720" y="1645920"/>
            <a:ext cx="685800" cy="6858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8" name="Text 6"/>
          <p:cNvSpPr/>
          <p:nvPr/>
        </p:nvSpPr>
        <p:spPr>
          <a:xfrm>
            <a:off x="1188720" y="16459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2103120" y="155448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方法论深度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2103120" y="201168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唯一把「IV/WoE → PSI → 贪心去共线性 → 四套方案」完整工程化的项目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914400" y="2834640"/>
            <a:ext cx="1033272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188720" y="3108960"/>
            <a:ext cx="685800" cy="6858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1188720" y="31089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2103120" y="301752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数据泄露防护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2103120" y="347472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明确识别并排除 grade/sub_grade 目标泄露（navyaneel 直接用了泄露特征，AUC 虚高）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914400" y="4297680"/>
            <a:ext cx="1033272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1188720" y="4572000"/>
            <a:ext cx="685800" cy="685800"/>
          </a:xfrm>
          <a:prstGeom prst="ellipse">
            <a:avLst/>
          </a:prstGeom>
          <a:solidFill>
            <a:srgbClr val="21295C"/>
          </a:solidFill>
          <a:ln/>
        </p:spPr>
      </p:sp>
      <p:sp>
        <p:nvSpPr>
          <p:cNvPr id="18" name="Text 16"/>
          <p:cNvSpPr/>
          <p:nvPr/>
        </p:nvSpPr>
        <p:spPr>
          <a:xfrm>
            <a:off x="1188720" y="45720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2103120" y="448056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产品化层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2103120" y="493776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把静态 Notebook 升级为「对话采集 → 模型推理 → 报告生成」Agent 闭环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违约预测模型深度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CreditMind · AI 信贷风控大脑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8 / 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566928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097280"/>
            <a:ext cx="91440" cy="41148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123444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方法论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31520" y="169164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①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280160" y="16916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 信息价值筛选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80160" y="196596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IV≥0.02，剔除预测力弱或无业务意义特征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2404872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②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280160" y="240487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WoE 证据权重分箱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280160" y="2679192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连续/类别变量转单调可分箱，提升稳定性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31520" y="3118104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③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280160" y="3118104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PSI 群体稳定性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280160" y="3392424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PSI&lt;0.25，本项目 28 个 IV 合格特征全部通过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31520" y="3831336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④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280160" y="3831336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贪心去共线性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280160" y="4105656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|r|≥0.7 时只保留一个，最终精选 19 特征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31520" y="4544568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⑤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280160" y="454456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数据泄露防护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280160" y="4818888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明确排除 grade / sub_grade 等放款后字段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5349240"/>
            <a:ext cx="5669280" cy="868680"/>
          </a:xfrm>
          <a:prstGeom prst="rect">
            <a:avLst/>
          </a:prstGeom>
          <a:solidFill>
            <a:srgbClr val="F0F9FF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" y="53949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相对原模型的改进（迁移 DianJin skill）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94360" y="56235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V1.ipynb </a:t>
            </a:r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相关性排序 → 贪心去共线
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V2.md     </a:t>
            </a:r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IV/WoE+PSI+四套方案+SafetyGate
</a:t>
            </a:r>
            <a:pPr indent="0" marL="0">
              <a:buNone/>
            </a:pPr>
            <a:r>
              <a:rPr lang="en-US" sz="9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CreditMind</a:t>
            </a:r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工程化精选 19 特征 + Agent 推理 + SHAP 双解释 + 泄露排除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400800" y="1097280"/>
            <a:ext cx="530352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400800" y="1097280"/>
            <a:ext cx="91440" cy="22860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29" name="Text 27"/>
          <p:cNvSpPr/>
          <p:nvPr/>
        </p:nvSpPr>
        <p:spPr>
          <a:xfrm>
            <a:off x="6629400" y="12344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模型架构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6629400" y="1645920"/>
            <a:ext cx="50292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算法    </a:t>
            </a:r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梯度提升树
</a:t>
            </a:r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特征数  </a:t>
            </a:r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19（IV≥0.02 + PSI&lt;0.25）
</a:t>
            </a:r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训练集  </a:t>
            </a:r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120,000 行（80%）/ 测试 30,000 行（20%）
</a:t>
            </a:r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违约率  </a:t>
            </a:r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14.81%（接近真实市场分布）
</a:t>
            </a:r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    </a:t>
            </a:r>
            <a:pPr indent="0" marL="0">
              <a:buNone/>
            </a:pPr>
            <a:r>
              <a:rPr lang="en-US" sz="13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0.7093（与 81 特征 baseline 相当）
</a:t>
            </a:r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可解释  </a:t>
            </a:r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全局 + 局部双解释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400800" y="3611880"/>
            <a:ext cx="53035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400800" y="3611880"/>
            <a:ext cx="91440" cy="26060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3" name="Text 31"/>
          <p:cNvSpPr/>
          <p:nvPr/>
        </p:nvSpPr>
        <p:spPr>
          <a:xfrm>
            <a:off x="6629400" y="37033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6 特征 IV 榜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6629400" y="416052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int_rate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823960" y="416052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IV=0.398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9921240" y="416052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贷款利率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629400" y="448970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term_months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8823960" y="448970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IV=0.160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9921240" y="4489704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贷款期限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629400" y="481888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tot_hi_cred_lim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8823960" y="4818888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IV=0.057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9921240" y="4818888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总高信用额度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629400" y="514807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loan_amnt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8823960" y="514807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IV=0.056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9921240" y="5148072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申请金额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629400" y="547725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open_rv_24m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8823960" y="5477256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IV=0.047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9921240" y="5477256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24月内新开循环账户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6629400" y="58064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home_ownership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8823960" y="580644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IV=0.039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9921240" y="580644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房屋所有权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可解释性：SHAP Top3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CreditMind · AI 信贷风控大脑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9 / 13</a:t>
            </a:r>
            <a:endParaRPr lang="en-US" sz="900" dirty="0"/>
          </a:p>
        </p:txBody>
      </p:sp>
      <p:pic>
        <p:nvPicPr>
          <p:cNvPr id="6" name="Image 0" descr="/Users/yolanda/NanTe2025/金融AIagent暑假集训/模块四/CreditMind/experiments/results/shap_top15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6858000" cy="47548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772400" y="1188720"/>
            <a:ext cx="384048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955280" y="1371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示例解读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955280" y="1828800"/>
            <a:ext cx="34747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"这位借款人违约概率 72%
</a:t>
            </a:r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主要风险因子：
</a:t>
            </a:r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int_rate（利率）13.5%
   — 高于平均，平台已识别较高风险
</a:t>
            </a:r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dti（负债收入比）35%
   — 偏高，偿债压力大
</a:t>
            </a:r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inq_last_6mths 5 次
   — 频繁申贷，资金紧张信号
</a:t>
            </a:r>
            <a:pPr indent="0" marL="0">
              <a:buNone/>
            </a:pPr>
            <a:r>
              <a:rPr lang="en-US" sz="12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建议话术：'根据您的信用状况，建议降低申请金额或提供担保'"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3716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现场 Demo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岁深圳电商老板借 20 万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914400" y="1828800"/>
            <a:ext cx="640080" cy="64008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828800" y="1828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启动 Agent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828800" y="21488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输入客户基本信息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2834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828800" y="2834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多轮访谈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828800" y="31546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自动提问 19 项特征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14400" y="3840480"/>
            <a:ext cx="640080" cy="64008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3840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828800" y="38404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模型推理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828800" y="41605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实时输出违约概率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914400" y="4846320"/>
            <a:ext cx="640080" cy="64008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4846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1828800" y="4846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报告生成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828800" y="51663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Markdown 尽调报告 + SHAP Top3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预期时长：5-10 分钟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Roadmap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CreditMind · AI 信贷风控大脑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11 / 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356616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371600"/>
            <a:ext cx="3566160" cy="5486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3716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1: MVP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2011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天（模块四+五）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24688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单轮输入 + Agent 访谈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31520" y="28803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模型推理 + 报告生成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32918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Streamlit Web Demo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31520" y="37033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3 个预设 Case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31520" y="4937760"/>
            <a:ext cx="3200400" cy="36576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49377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已完成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389120" y="1371600"/>
            <a:ext cx="356616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389120" y="1371600"/>
            <a:ext cx="3566160" cy="5486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0" y="13716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2: 产品化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572000" y="2011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1-2 个月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0" y="24688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FastAPI + Docker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72000" y="28803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OCR 多模态采集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0" y="32918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模型校准（Isotonic）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572000" y="37033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Word/PDF 导出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572000" y="4937760"/>
            <a:ext cx="3200400" cy="36576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0" y="49377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⏳ 计划中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229600" y="1371600"/>
            <a:ext cx="356616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229600" y="1371600"/>
            <a:ext cx="3566160" cy="548640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28" name="Text 26"/>
          <p:cNvSpPr/>
          <p:nvPr/>
        </p:nvSpPr>
        <p:spPr>
          <a:xfrm>
            <a:off x="8412480" y="13716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3: 企业级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8412480" y="2011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3-6 个月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412480" y="24688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多用户并发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8412480" y="28803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企业级 SaaS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412480" y="32918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实时交易系统对接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8412480" y="37033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多产品线支持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8412480" y="4937760"/>
            <a:ext cx="3200400" cy="36576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5" name="Text 33"/>
          <p:cNvSpPr/>
          <p:nvPr/>
        </p:nvSpPr>
        <p:spPr>
          <a:xfrm>
            <a:off x="8412480" y="49377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远期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48640" y="57607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会进一步丰富信贷特征工程与多模态采集，覆盖更多消费贷细分场景。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诚实短板与 Ask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CreditMind · AI 信贷风控大脑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12 / 13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已知短板（主动说明）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1554480"/>
            <a:ext cx="53035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554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数据规模 15 万行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474720" y="15544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接 2007-2019 全量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2194560"/>
            <a:ext cx="53035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1945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特征衍生深度不足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474720" y="21945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加衍生特征工程层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2834640"/>
            <a:ext cx="53035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28346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无模型校准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474720" y="28346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Isotonic / Platt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474720"/>
            <a:ext cx="53035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47472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仅文本对话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474720" y="34747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加 OCR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0" y="10972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6400800" y="1554480"/>
            <a:ext cx="5212080" cy="777240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21" name="Text 19"/>
          <p:cNvSpPr/>
          <p:nvPr/>
        </p:nvSpPr>
        <p:spPr>
          <a:xfrm>
            <a:off x="6583680" y="155448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Agent × 风控 的产品化路径，特别是合规边界设计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400800" y="2468880"/>
            <a:ext cx="5212080" cy="777240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23" name="Text 21"/>
          <p:cNvSpPr/>
          <p:nvPr/>
        </p:nvSpPr>
        <p:spPr>
          <a:xfrm>
            <a:off x="6583680" y="246888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IV/WoE+PSI 方法论在生产环境的工程化最佳实践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400800" y="3383280"/>
            <a:ext cx="5212080" cy="777240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0" y="338328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多模态采集（OCR/语音）的落地经验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3716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720840"/>
            <a:ext cx="12161520" cy="13716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82880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感谢各位导师点评！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4572000" y="3017520"/>
            <a:ext cx="3017520" cy="0"/>
          </a:xfrm>
          <a:prstGeom prst="line">
            <a:avLst/>
          </a:prstGeom>
          <a:noFill/>
          <a:ln w="25400">
            <a:solidFill>
              <a:srgbClr val="14B8A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329184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CreditMind · AI 信贷风控大脑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914400" y="384048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让消费贷尽调从 2 小时压缩到 15 分钟，且每个判断都有据可查。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50292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尹红艳 · 2026-07-25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CreditMind · AI 信贷风控大脑</dc:title>
  <dc:subject>PptxGenJS Presentation</dc:subject>
  <dc:creator>尹红艳</dc:creator>
  <cp:lastModifiedBy>尹红艳</cp:lastModifiedBy>
  <cp:revision>1</cp:revision>
  <dcterms:created xsi:type="dcterms:W3CDTF">2026-07-25T09:36:02Z</dcterms:created>
  <dcterms:modified xsi:type="dcterms:W3CDTF">2026-07-25T09:36:02Z</dcterms:modified>
</cp:coreProperties>
</file>